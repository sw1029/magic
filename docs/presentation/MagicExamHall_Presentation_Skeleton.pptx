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0" y="832104"/>
            <a:ext cx="3474720" cy="3474720"/>
          </a:xfrm>
          <a:prstGeom prst="ellipse">
            <a:avLst/>
          </a:prstGeom>
          <a:ln w="19050">
            <a:solidFill>
              <a:srgbClr val="3A32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72277" y="1492301"/>
            <a:ext cx="2154326" cy="2154326"/>
          </a:xfrm>
          <a:prstGeom prst="ellipse">
            <a:avLst/>
          </a:prstGeom>
          <a:ln w="15240">
            <a:solidFill>
              <a:srgbClr val="3A32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17436" y="800100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5" name="Shape 3"/>
          <p:cNvSpPr/>
          <p:nvPr/>
        </p:nvSpPr>
        <p:spPr>
          <a:xfrm>
            <a:off x="6917436" y="4274820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6" name="Shape 4"/>
          <p:cNvSpPr/>
          <p:nvPr/>
        </p:nvSpPr>
        <p:spPr>
          <a:xfrm>
            <a:off x="5180076" y="2537460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7" name="Shape 5"/>
          <p:cNvSpPr/>
          <p:nvPr/>
        </p:nvSpPr>
        <p:spPr>
          <a:xfrm>
            <a:off x="8654796" y="2537460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8" name="Shape 6"/>
          <p:cNvSpPr/>
          <p:nvPr/>
        </p:nvSpPr>
        <p:spPr>
          <a:xfrm>
            <a:off x="5897880" y="1517904"/>
            <a:ext cx="2103120" cy="2103120"/>
          </a:xfrm>
          <a:prstGeom prst="ellipse">
            <a:avLst/>
          </a:prstGeom>
          <a:ln w="15240">
            <a:solidFill>
              <a:srgbClr val="9D7B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97473" y="1917497"/>
            <a:ext cx="1303934" cy="1303934"/>
          </a:xfrm>
          <a:prstGeom prst="ellipse">
            <a:avLst/>
          </a:prstGeom>
          <a:ln w="12192">
            <a:solidFill>
              <a:srgbClr val="9D7B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17436" y="1485900"/>
            <a:ext cx="64008" cy="64008"/>
          </a:xfrm>
          <a:prstGeom prst="ellipse">
            <a:avLst/>
          </a:prstGeom>
          <a:solidFill>
            <a:srgbClr val="9D7BE8"/>
          </a:solidFill>
          <a:ln/>
        </p:spPr>
      </p:sp>
      <p:sp>
        <p:nvSpPr>
          <p:cNvPr id="11" name="Shape 9"/>
          <p:cNvSpPr/>
          <p:nvPr/>
        </p:nvSpPr>
        <p:spPr>
          <a:xfrm>
            <a:off x="6917436" y="3589020"/>
            <a:ext cx="64008" cy="64008"/>
          </a:xfrm>
          <a:prstGeom prst="ellipse">
            <a:avLst/>
          </a:prstGeom>
          <a:solidFill>
            <a:srgbClr val="9D7BE8"/>
          </a:solidFill>
          <a:ln/>
        </p:spPr>
      </p:sp>
      <p:sp>
        <p:nvSpPr>
          <p:cNvPr id="12" name="Shape 10"/>
          <p:cNvSpPr/>
          <p:nvPr/>
        </p:nvSpPr>
        <p:spPr>
          <a:xfrm>
            <a:off x="5865876" y="2537460"/>
            <a:ext cx="64008" cy="64008"/>
          </a:xfrm>
          <a:prstGeom prst="ellipse">
            <a:avLst/>
          </a:prstGeom>
          <a:solidFill>
            <a:srgbClr val="9D7BE8"/>
          </a:solidFill>
          <a:ln/>
        </p:spPr>
      </p:sp>
      <p:sp>
        <p:nvSpPr>
          <p:cNvPr id="13" name="Shape 11"/>
          <p:cNvSpPr/>
          <p:nvPr/>
        </p:nvSpPr>
        <p:spPr>
          <a:xfrm>
            <a:off x="7968996" y="2537460"/>
            <a:ext cx="64008" cy="64008"/>
          </a:xfrm>
          <a:prstGeom prst="ellipse">
            <a:avLst/>
          </a:prstGeom>
          <a:solidFill>
            <a:srgbClr val="9D7BE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107899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MAGIC EXAM HALL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1481328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바닥에 직접 문양을 그려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시전하는 마법 드로잉 퍼즐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502920" y="312724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7B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“정답 레시피가 아니라 관찰과 조합으로 통과하는 입학 시험”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5~8분  ·  시연 영상 2분 백업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89320" y="2020824"/>
            <a:ext cx="1920240" cy="109728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89320" y="2020824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스크린샷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5층 성좌심 또는 1층 첫 시전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있던 자리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196596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81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룬 암기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19476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 Fatalis 계열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225856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외운 모양을 재현하면 성공.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탐색은 공략 암기로 수렴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64408" y="1417320"/>
            <a:ext cx="2606040" cy="196596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581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콤보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65576" y="19476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Magicka 계열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65576" y="225856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폭발력은 있지만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긋는 행위 자체는 없음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71616" y="1417320"/>
            <a:ext cx="2606040" cy="196596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71616" y="1417320"/>
            <a:ext cx="64008" cy="1965960"/>
          </a:xfrm>
          <a:prstGeom prst="rect">
            <a:avLst/>
          </a:prstGeom>
          <a:solidFill>
            <a:srgbClr val="F0B450"/>
          </a:solidFill>
          <a:ln/>
        </p:spPr>
      </p:sp>
      <p:sp>
        <p:nvSpPr>
          <p:cNvPr id="15" name="Text 13"/>
          <p:cNvSpPr/>
          <p:nvPr/>
        </p:nvSpPr>
        <p:spPr>
          <a:xfrm>
            <a:off x="6272784" y="1581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교차점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72784" y="19476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Magic Exam Hall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72784" y="225856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그리는 입력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레시피 없는 발견형 퍼즐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실패가 단서가 되는 학습 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357616" cy="96012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질문  </a:t>
            </a:r>
            <a:pPr indent="0" marL="0">
              <a:buNone/>
            </a:pPr>
            <a:r>
              <a:rPr lang="en-US" sz="140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기호 기반 입력이 재미와 몰입을 만들면서도, 실패 이유를 납득 가능하게 설명할 수 있는가? (GAME_DESIGN §1)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마법 문법 — 동사와 장식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179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5종 — 세계를 바꾸는 동사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566928" cy="566928"/>
          </a:xfrm>
          <a:prstGeom prst="ellipse">
            <a:avLst/>
          </a:prstGeom>
          <a:ln w="19050">
            <a:solidFill>
              <a:srgbClr val="F0B4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28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371600" y="1828800"/>
            <a:ext cx="566928" cy="566928"/>
          </a:xfrm>
          <a:prstGeom prst="ellipse">
            <a:avLst/>
          </a:prstGeom>
          <a:ln w="19050">
            <a:solidFill>
              <a:srgbClr val="F0B4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828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84832" y="1828800"/>
            <a:ext cx="566928" cy="566928"/>
          </a:xfrm>
          <a:prstGeom prst="ellipse">
            <a:avLst/>
          </a:prstGeom>
          <a:ln w="19050">
            <a:solidFill>
              <a:srgbClr val="F0B4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4832" y="1828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98064" y="1828800"/>
            <a:ext cx="566928" cy="566928"/>
          </a:xfrm>
          <a:prstGeom prst="ellipse">
            <a:avLst/>
          </a:prstGeom>
          <a:ln w="19050">
            <a:solidFill>
              <a:srgbClr val="F0B4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8064" y="1828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11296" y="1828800"/>
            <a:ext cx="566928" cy="566928"/>
          </a:xfrm>
          <a:prstGeom prst="ellipse">
            <a:avLst/>
          </a:prstGeom>
          <a:ln w="19050">
            <a:solidFill>
              <a:srgbClr val="F0B4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1828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overlay 6종 — 동사를 바꾸는 장식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8163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7B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ice_bar · steel_brace · soul_dot · electric_fork · void_cut → martial_axis (의존성: void_cut 이후에만)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1371600"/>
            <a:ext cx="4151376" cy="210312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15179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형태가 종류를, 품질이 세기를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64608" y="1828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family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(무엇이 되는가)와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quality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(얼마나 강한가)의 분리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처리: 단계적 힌트 escalator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반응 → 체크리스트 → ghost trace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822192"/>
            <a:ext cx="1417320" cy="566928"/>
          </a:xfrm>
          <a:prstGeom prst="rect">
            <a:avLst/>
          </a:prstGeom>
          <a:solidFill>
            <a:srgbClr val="221C3A"/>
          </a:solidFill>
          <a:ln w="15240">
            <a:solidFill>
              <a:srgbClr val="3730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8221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56232" y="3822192"/>
            <a:ext cx="347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167128" y="3822192"/>
            <a:ext cx="1417320" cy="566928"/>
          </a:xfrm>
          <a:prstGeom prst="rect">
            <a:avLst/>
          </a:prstGeom>
          <a:solidFill>
            <a:srgbClr val="221C3A"/>
          </a:solidFill>
          <a:ln w="15240">
            <a:solidFill>
              <a:srgbClr val="3730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67128" y="38221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드로잉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3822192"/>
            <a:ext cx="347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877056" y="3822192"/>
            <a:ext cx="1417320" cy="566928"/>
          </a:xfrm>
          <a:prstGeom prst="rect">
            <a:avLst/>
          </a:prstGeom>
          <a:solidFill>
            <a:srgbClr val="221C3A"/>
          </a:solidFill>
          <a:ln w="15240">
            <a:solidFill>
              <a:srgbClr val="3730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77056" y="38221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 · 품질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76088" y="3822192"/>
            <a:ext cx="347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586984" y="3822192"/>
            <a:ext cx="1417320" cy="566928"/>
          </a:xfrm>
          <a:prstGeom prst="rect">
            <a:avLst/>
          </a:prstGeom>
          <a:solidFill>
            <a:srgbClr val="221C3A"/>
          </a:solidFill>
          <a:ln w="15240">
            <a:solidFill>
              <a:srgbClr val="3730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86984" y="38221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반응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86016" y="3822192"/>
            <a:ext cx="347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296912" y="3822192"/>
            <a:ext cx="1417320" cy="566928"/>
          </a:xfrm>
          <a:prstGeom prst="rect">
            <a:avLst/>
          </a:prstGeom>
          <a:solidFill>
            <a:srgbClr val="2E2452"/>
          </a:solidFill>
          <a:ln w="15240">
            <a:solidFill>
              <a:srgbClr val="9D7B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96912" y="38221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7B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실험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웹에서 검증하고, Unity로 이식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141732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996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1 — Web Recognizer Lab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58368" y="181051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인식 실험 · 대시보드 · 설문 수집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stroke session → 특징 추출 → family + quality vector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80560" y="137160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4105656" cy="141732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328" y="1499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2 — Unity Playable (5층 시험장)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10328" y="181051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URP 2D 라이트 · 절차 SFX + 파일 우선 BGM 로더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멘토 NPC · codex · 엔딩 분기 (5/6 통과 · 6/6 진엔딩)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자동화 — 전부 자동으로 다시 돌릴 수 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956816" cy="1207008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566160"/>
            <a:ext cx="1956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D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" y="4169664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테스트 (Vitest)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15184" y="3456432"/>
            <a:ext cx="1956816" cy="1207008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15184" y="3566160"/>
            <a:ext cx="1956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D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615184" y="4169664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EditMode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73168" y="3456432"/>
            <a:ext cx="1956816" cy="1207008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3566160"/>
            <a:ext cx="1956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D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73168" y="4169664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PlayMode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931152" y="3456432"/>
            <a:ext cx="1956816" cy="1207008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3566160"/>
            <a:ext cx="1956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D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1줄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931152" y="4169664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빌드 + smoke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테스트 프로토콜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329184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17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 (RESEARCH_PROTOCOL)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58368" y="187452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무설명 60분 완주 — 외부 테스터가 설명 없이 통과 엔딩(5/6)에 도달하는가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버퍼 A/B: 0.6 / 0.8 / 1.0초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attempts 로그 + 사후 설문 + 관찰표, 익명화 수집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결과로 오인식 상위 family 튜닝 → 2차에서 개선 폭 측정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151376" cy="91440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773168" y="1371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(데이터) </a:t>
            </a:r>
            <a:pPr indent="0" marL="0">
              <a:buNone/>
            </a:pPr>
            <a:r>
              <a:rPr lang="en-US" sz="12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N=5 — 첫 시전까지 시간 / family별 첫 시도 성공률 / assist 도달률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32304"/>
            <a:ext cx="4151376" cy="91440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73168" y="2432304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(데이터) </a:t>
            </a:r>
            <a:pPr indent="0" marL="0">
              <a:buNone/>
            </a:pPr>
            <a:r>
              <a:rPr lang="en-US" sz="12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N=3~5 — 1차 대비 개선 폭 (인식 튜닝·체감 개선 반영 후)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3493008"/>
            <a:ext cx="4151376" cy="91440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73168" y="349300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(데이터) </a:t>
            </a:r>
            <a:pPr indent="0" marL="0">
              <a:buNone/>
            </a:pPr>
            <a:r>
              <a:rPr lang="en-US" sz="12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— 공정성·몰입감 5점 척도 평균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결과와 한계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“당신은 이런 마법사였습니다”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155448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17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엔딩 리포트 — 플레이 스타일의 데이터화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58368" y="18470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쓴 base·overlay, 발견 수, 실패 회복 패턴이 한 장의 리포트로 요약된다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4023360" cy="73152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(데이터) </a:t>
            </a:r>
            <a:pPr indent="0" marL="0">
              <a:buNone/>
            </a:pPr>
            <a:r>
              <a:rPr lang="en-US" sz="12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완주율 / 통과·진엔딩 비율 / 발견 수 분포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51376" cy="2468880"/>
          </a:xfrm>
          <a:prstGeom prst="rect">
            <a:avLst/>
          </a:prstGeom>
          <a:solidFill>
            <a:srgbClr val="221C3A"/>
          </a:solidFill>
          <a:ln w="12700">
            <a:solidFill>
              <a:srgbClr val="3730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51790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D7B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64608" y="187452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 휴리스틱의 개인차 (필체 편향)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크기 (N=5~10)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세션 측정 — 학습 곡선 장기 추적 없음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64608" y="3310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B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 </a:t>
            </a:r>
            <a:pPr indent="0" marL="0">
              <a:buNone/>
            </a:pPr>
            <a:r>
              <a:rPr lang="en-US" sz="1250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 profile 보정 이식 · 외부 배포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시 주의: 모든 (데이터) 칸은 플레이테스트 1·2차 결과로 채운 뒤 발표한다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5072" y="301752"/>
            <a:ext cx="1133856" cy="1133856"/>
          </a:xfrm>
          <a:prstGeom prst="ellipse">
            <a:avLst/>
          </a:prstGeom>
          <a:ln w="15240">
            <a:solidFill>
              <a:srgbClr val="3A32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20505" y="517185"/>
            <a:ext cx="702991" cy="702991"/>
          </a:xfrm>
          <a:prstGeom prst="ellipse">
            <a:avLst/>
          </a:prstGeom>
          <a:ln w="12192">
            <a:solidFill>
              <a:srgbClr val="3A32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9996" y="269748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5" name="Shape 3"/>
          <p:cNvSpPr/>
          <p:nvPr/>
        </p:nvSpPr>
        <p:spPr>
          <a:xfrm>
            <a:off x="4539996" y="1403604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6" name="Shape 4"/>
          <p:cNvSpPr/>
          <p:nvPr/>
        </p:nvSpPr>
        <p:spPr>
          <a:xfrm>
            <a:off x="3973068" y="836676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7" name="Shape 5"/>
          <p:cNvSpPr/>
          <p:nvPr/>
        </p:nvSpPr>
        <p:spPr>
          <a:xfrm>
            <a:off x="5106924" y="836676"/>
            <a:ext cx="64008" cy="64008"/>
          </a:xfrm>
          <a:prstGeom prst="ellipse">
            <a:avLst/>
          </a:prstGeom>
          <a:solidFill>
            <a:srgbClr val="3A3260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521208"/>
            <a:ext cx="694944" cy="694944"/>
          </a:xfrm>
          <a:prstGeom prst="ellipse">
            <a:avLst/>
          </a:prstGeom>
          <a:ln w="13970">
            <a:solidFill>
              <a:srgbClr val="F0B4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6567" y="653247"/>
            <a:ext cx="430865" cy="430865"/>
          </a:xfrm>
          <a:prstGeom prst="ellipse">
            <a:avLst/>
          </a:prstGeom>
          <a:ln w="11176">
            <a:solidFill>
              <a:srgbClr val="F0B4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9996" y="489204"/>
            <a:ext cx="64008" cy="64008"/>
          </a:xfrm>
          <a:prstGeom prst="ellipse">
            <a:avLst/>
          </a:prstGeom>
          <a:solidFill>
            <a:srgbClr val="F0B450"/>
          </a:solidFill>
          <a:ln/>
        </p:spPr>
      </p:sp>
      <p:sp>
        <p:nvSpPr>
          <p:cNvPr id="11" name="Shape 9"/>
          <p:cNvSpPr/>
          <p:nvPr/>
        </p:nvSpPr>
        <p:spPr>
          <a:xfrm>
            <a:off x="4539996" y="1184148"/>
            <a:ext cx="64008" cy="64008"/>
          </a:xfrm>
          <a:prstGeom prst="ellipse">
            <a:avLst/>
          </a:prstGeom>
          <a:solidFill>
            <a:srgbClr val="F0B450"/>
          </a:solidFill>
          <a:ln/>
        </p:spPr>
      </p:sp>
      <p:sp>
        <p:nvSpPr>
          <p:cNvPr id="12" name="Shape 10"/>
          <p:cNvSpPr/>
          <p:nvPr/>
        </p:nvSpPr>
        <p:spPr>
          <a:xfrm>
            <a:off x="4192524" y="836676"/>
            <a:ext cx="64008" cy="64008"/>
          </a:xfrm>
          <a:prstGeom prst="ellipse">
            <a:avLst/>
          </a:prstGeom>
          <a:solidFill>
            <a:srgbClr val="F0B45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87468" y="836676"/>
            <a:ext cx="64008" cy="64008"/>
          </a:xfrm>
          <a:prstGeom prst="ellipse">
            <a:avLst/>
          </a:prstGeom>
          <a:solidFill>
            <a:srgbClr val="F0B45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8308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손으로 그은 마법진이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2EE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작동하는 첫 순간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999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7B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게임이 만들고 싶은 단 한 가지 경험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23160" y="3794760"/>
            <a:ext cx="2057400" cy="77724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423160" y="37947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다운로드 QR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794760"/>
            <a:ext cx="2057400" cy="777240"/>
          </a:xfrm>
          <a:prstGeom prst="rect">
            <a:avLst/>
          </a:prstGeom>
          <a:solidFill>
            <a:srgbClr val="221C3A"/>
          </a:solidFill>
          <a:ln w="12700">
            <a:solidFill>
              <a:srgbClr val="F0B45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663440" y="37947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github.com/sw1029/magic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0" y="310896"/>
            <a:ext cx="777240" cy="274320"/>
          </a:xfrm>
          <a:prstGeom prst="rect">
            <a:avLst/>
          </a:prstGeom>
          <a:solidFill>
            <a:srgbClr val="F0B4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Exam Hall — 발표 자료 (5~8분)</dc:title>
  <dc:subject>PptxGenJS Presentation</dc:subject>
  <dc:creator>Magic Exam Hall Team</dc:creator>
  <cp:lastModifiedBy>Magic Exam Hall Team</cp:lastModifiedBy>
  <cp:revision>1</cp:revision>
  <dcterms:created xsi:type="dcterms:W3CDTF">2026-06-12T11:32:19Z</dcterms:created>
  <dcterms:modified xsi:type="dcterms:W3CDTF">2026-06-12T11:32:19Z</dcterms:modified>
</cp:coreProperties>
</file>